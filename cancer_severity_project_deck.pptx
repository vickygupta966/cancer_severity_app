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FE9D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768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85800" y="594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103C42"/>
                </a:solidFill>
              </a:rPr>
              <a:t>ML PROJECT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24231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5000" b="1">
                <a:solidFill>
                  <a:srgbClr val="103C42"/>
                </a:solidFill>
              </a:rPr>
              <a:t>0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685800" y="3246120"/>
            <a:ext cx="2651760" cy="0"/>
          </a:xfrm>
          <a:prstGeom prst="line">
            <a:avLst/>
          </a:prstGeom>
          <a:ln w="38100">
            <a:solidFill>
              <a:srgbClr val="103C42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685800" y="36118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5000" b="1">
                <a:solidFill>
                  <a:srgbClr val="E7684B"/>
                </a:solidFill>
              </a:rPr>
              <a:t>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85800" y="4434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03C42"/>
                </a:solidFill>
              </a:rPr>
              <a:t>Severity score as the product</a:t>
            </a:r>
          </a:p>
          <a:p>
            <a:r>
              <a:rPr lang="en-US" sz="1600">
                <a:solidFill>
                  <a:srgbClr val="103C42"/>
                </a:solidFill>
              </a:rPr>
              <a:t>output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85800" y="61722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103C42"/>
                </a:solidFill>
              </a:rPr>
              <a:t>Streamlit app + Random Forest regression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983480" y="21945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FFFFFF"/>
                </a:solidFill>
              </a:rPr>
              <a:t>Cancer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983480" y="28803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983480" y="35661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983480" y="434340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DCECE5"/>
                </a:solidFill>
              </a:rPr>
              <a:t>A compact walkthrough of the dataset, model pipeline, web app, measured performance, and caveats.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02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PROJECT PURPOSE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2026"/>
                </a:solidFill>
              </a:rPr>
              <a:t>The project turns patient attributes into a severity score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00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637074"/>
                </a:solidFill>
              </a:rPr>
              <a:t>The notebook trains the model; the Streamlit app makes the trained model usable through a simple form.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3154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500" b="1">
                <a:solidFill>
                  <a:srgbClr val="1B7F79"/>
                </a:solidFill>
              </a:rPr>
              <a:t>Input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36576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172026"/>
                </a:solidFill>
              </a:rPr>
              <a:t>Age, year, country, gender, cancer type, cancer stage, and five risk-factor sliders.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4023360" y="3154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500" b="1">
                <a:solidFill>
                  <a:srgbClr val="5B4067"/>
                </a:solidFill>
              </a:rPr>
              <a:t>Model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023360" y="36576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172026"/>
                </a:solidFill>
              </a:rPr>
              <a:t>A Random Forest regressor learns non-linear patterns from the encoded patient dataset.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223760" y="3154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500" b="1">
                <a:solidFill>
                  <a:srgbClr val="E7684B"/>
                </a:solidFill>
              </a:rPr>
              <a:t>Output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223760" y="36576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172026"/>
                </a:solidFill>
              </a:rPr>
              <a:t>The app returns a numeric severity score and groups it as low, moderate, or high.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85800" y="649224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app.py and cancerpatients.ipynb.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02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DATASET VIEW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82296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900" b="1">
                <a:solidFill>
                  <a:srgbClr val="172026"/>
                </a:solidFill>
              </a:rPr>
              <a:t>The model learns from demographics, clinical context, and risk factors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00200"/>
            <a:ext cx="7498079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37074"/>
                </a:solidFill>
              </a:rPr>
              <a:t>The notebook uses a global cancer-patient CSV covering records from 2015 to 2024.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274320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2026"/>
                </a:solidFill>
              </a:rPr>
              <a:t>Demographics: age, gender, country or region.</a:t>
            </a:r>
          </a:p>
          <a:p>
            <a:r>
              <a:rPr lang="en-US" sz="1500">
                <a:solidFill>
                  <a:srgbClr val="172026"/>
                </a:solidFill>
              </a:rPr>
              <a:t>Clinical context: cancer type and cancer stage.</a:t>
            </a:r>
          </a:p>
          <a:p>
            <a:r>
              <a:rPr lang="en-US" sz="1500">
                <a:solidFill>
                  <a:srgbClr val="172026"/>
                </a:solidFill>
              </a:rPr>
              <a:t>Risk factors: genetic risk, air pollution, alcohol use, smoking, obesity.</a:t>
            </a:r>
          </a:p>
          <a:p>
            <a:r>
              <a:rPr lang="en-US" sz="1500">
                <a:solidFill>
                  <a:srgbClr val="172026"/>
                </a:solidFill>
              </a:rPr>
              <a:t>Targets: severity score for prediction; survival and treatment cost for analysis.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852160" y="2743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2026"/>
                </a:solidFill>
              </a:rPr>
              <a:t>Notebook analyses include</a:t>
            </a:r>
          </a:p>
        </p:txBody>
      </p:sp>
      <p:sp>
        <p:nvSpPr>
          <p:cNvPr id="7" name="Pill 7"/>
          <p:cNvSpPr/>
          <p:nvPr/>
        </p:nvSpPr>
        <p:spPr>
          <a:xfrm>
            <a:off x="5852160" y="3337560"/>
            <a:ext cx="1280160" cy="32004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FFFFFF"/>
                </a:solidFill>
              </a:rPr>
              <a:t>distributions</a:t>
            </a:r>
          </a:p>
        </p:txBody>
      </p:sp>
      <p:sp>
        <p:nvSpPr>
          <p:cNvPr id="8" name="Pill 8"/>
          <p:cNvSpPr/>
          <p:nvPr/>
        </p:nvSpPr>
        <p:spPr>
          <a:xfrm>
            <a:off x="7315200" y="3337560"/>
            <a:ext cx="1188720" cy="320040"/>
          </a:xfrm>
          <a:prstGeom prst="roundRect">
            <a:avLst/>
          </a:prstGeom>
          <a:solidFill>
            <a:srgbClr val="5B406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FFFFFF"/>
                </a:solidFill>
              </a:rPr>
              <a:t>correlations</a:t>
            </a:r>
          </a:p>
        </p:txBody>
      </p:sp>
      <p:sp>
        <p:nvSpPr>
          <p:cNvPr id="9" name="Pill 9"/>
          <p:cNvSpPr/>
          <p:nvPr/>
        </p:nvSpPr>
        <p:spPr>
          <a:xfrm>
            <a:off x="8686800" y="3337560"/>
            <a:ext cx="914400" cy="320040"/>
          </a:xfrm>
          <a:prstGeom prst="roundRect">
            <a:avLst/>
          </a:prstGeom>
          <a:solidFill>
            <a:srgbClr val="D8A938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172026"/>
                </a:solidFill>
              </a:rPr>
              <a:t>costs</a:t>
            </a:r>
          </a:p>
        </p:txBody>
      </p:sp>
      <p:sp>
        <p:nvSpPr>
          <p:cNvPr id="10" name="Pill 10"/>
          <p:cNvSpPr/>
          <p:nvPr/>
        </p:nvSpPr>
        <p:spPr>
          <a:xfrm>
            <a:off x="5852160" y="3794760"/>
            <a:ext cx="1280160" cy="320040"/>
          </a:xfrm>
          <a:prstGeom prst="roundRect">
            <a:avLst/>
          </a:prstGeom>
          <a:solidFill>
            <a:srgbClr val="E7684B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FFFFFF"/>
                </a:solidFill>
              </a:rPr>
              <a:t>stage effects</a:t>
            </a:r>
          </a:p>
        </p:txBody>
      </p:sp>
      <p:sp>
        <p:nvSpPr>
          <p:cNvPr id="11" name="Pill 11"/>
          <p:cNvSpPr/>
          <p:nvPr/>
        </p:nvSpPr>
        <p:spPr>
          <a:xfrm>
            <a:off x="7315200" y="3794760"/>
            <a:ext cx="1371600" cy="320040"/>
          </a:xfrm>
          <a:prstGeom prst="roundRect">
            <a:avLst/>
          </a:prstGeom>
          <a:solidFill>
            <a:srgbClr val="103C42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12" name="Pill 12"/>
          <p:cNvSpPr/>
          <p:nvPr/>
        </p:nvSpPr>
        <p:spPr>
          <a:xfrm>
            <a:off x="8869680" y="3794760"/>
            <a:ext cx="1005840" cy="320040"/>
          </a:xfrm>
          <a:prstGeom prst="roundRect">
            <a:avLst/>
          </a:prstGeom>
          <a:solidFill>
            <a:srgbClr val="BFE9D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000" b="1">
                <a:solidFill>
                  <a:srgbClr val="172026"/>
                </a:solidFill>
              </a:rPr>
              <a:t>survival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85800" y="649224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notebook exploratory analysis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029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MODELING WORKFLOW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82296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900" b="1">
                <a:solidFill>
                  <a:srgbClr val="172026"/>
                </a:solidFill>
              </a:rPr>
              <a:t>The notebook moves from exploration to a deployable pickle model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685800" y="1673352"/>
            <a:ext cx="1097280" cy="0"/>
          </a:xfrm>
          <a:prstGeom prst="line">
            <a:avLst/>
          </a:prstGeom>
          <a:ln w="25400">
            <a:solidFill>
              <a:srgbClr val="E7684B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3152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500" b="1">
                <a:solidFill>
                  <a:srgbClr val="1B7F79"/>
                </a:solidFill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172026"/>
                </a:solidFill>
              </a:rPr>
              <a:t>Load data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3657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637074"/>
                </a:solidFill>
              </a:rPr>
              <a:t>Read the CSV and inspect shape, columns, duplicates, and distributions.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29184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500" b="1">
                <a:solidFill>
                  <a:srgbClr val="5B4067"/>
                </a:solidFill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29184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172026"/>
                </a:solidFill>
              </a:rPr>
              <a:t>Encode labels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291840" y="3657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637074"/>
                </a:solidFill>
              </a:rPr>
              <a:t>Convert categorical fields into numeric codes for scikit-learn.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85216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500" b="1">
                <a:solidFill>
                  <a:srgbClr val="E7684B"/>
                </a:solidFill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6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172026"/>
                </a:solidFill>
              </a:rPr>
              <a:t>Train forest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852160" y="3657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637074"/>
                </a:solidFill>
              </a:rPr>
              <a:t>Fit a RandomForestRegressor on the severity target.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41248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500" b="1">
                <a:solidFill>
                  <a:srgbClr val="D8A938"/>
                </a:solidFill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41248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172026"/>
                </a:solidFill>
              </a:rPr>
              <a:t>Export model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412480" y="3657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637074"/>
                </a:solidFill>
              </a:rPr>
              <a:t>Save the best estimator as model.pkl for the Streamlit app.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85800" y="6492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notebook cells 3, 4, 43, 47, and 87.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02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MODEL RESULT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8229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72026"/>
                </a:solidFill>
              </a:rPr>
              <a:t>The tuned forest generalizes at about 0.776 test R-squared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0020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37074"/>
                </a:solidFill>
              </a:rPr>
              <a:t>Training performance remains higher, so the model is useful but still shows some overfit risk.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3749039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800" b="1">
                <a:solidFill>
                  <a:srgbClr val="E7684B"/>
                </a:solidFill>
              </a:rPr>
              <a:t>0.776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45720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172026"/>
                </a:solidFill>
              </a:rPr>
              <a:t>Test R-squared after GridSearchCV tuning</a:t>
            </a:r>
          </a:p>
        </p:txBody>
      </p:sp>
      <p:sp>
        <p:nvSpPr>
          <p:cNvPr id="7" name="Rectangle 7"/>
          <p:cNvSpPr/>
          <p:nvPr/>
        </p:nvSpPr>
        <p:spPr>
          <a:xfrm>
            <a:off x="5029200" y="2743200"/>
            <a:ext cx="685800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angle 8"/>
          <p:cNvSpPr/>
          <p:nvPr/>
        </p:nvSpPr>
        <p:spPr>
          <a:xfrm>
            <a:off x="6949440" y="3474720"/>
            <a:ext cx="685800" cy="16916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892040" y="53492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>
                <a:solidFill>
                  <a:srgbClr val="637074"/>
                </a:solidFill>
              </a:rPr>
              <a:t>Train 0.953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812280" y="53492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>
                <a:solidFill>
                  <a:srgbClr val="637074"/>
                </a:solidFill>
              </a:rPr>
              <a:t>Test 0.776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0" y="2331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 b="1">
                <a:solidFill>
                  <a:srgbClr val="172026"/>
                </a:solidFill>
              </a:rPr>
              <a:t>Random Forest R-squared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85800" y="649224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notebook output cells 44 and 48.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26517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STREAMLIT APP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315468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72026"/>
                </a:solidFill>
              </a:rPr>
              <a:t>A simple form wraps</a:t>
            </a:r>
          </a:p>
          <a:p>
            <a:r>
              <a:rPr lang="en-US" sz="2700" b="1">
                <a:solidFill>
                  <a:srgbClr val="172026"/>
                </a:solidFill>
              </a:rPr>
              <a:t>the trained model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43434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37074"/>
                </a:solidFill>
              </a:rPr>
              <a:t>The app downloads model.pkl from Google Drive when needed, loads it with pickle, and predicts on button press.</a:t>
            </a:r>
          </a:p>
        </p:txBody>
      </p:sp>
      <p:sp>
        <p:nvSpPr>
          <p:cNvPr id="5" name="Rectangle 5"/>
          <p:cNvSpPr/>
          <p:nvPr/>
        </p:nvSpPr>
        <p:spPr>
          <a:xfrm>
            <a:off x="4663440" y="502920"/>
            <a:ext cx="6309360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983480" y="868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500" b="1">
                <a:solidFill>
                  <a:srgbClr val="172026"/>
                </a:solidFill>
              </a:rPr>
              <a:t>Cancer Severity Prediction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4983480" y="1508760"/>
            <a:ext cx="5303520" cy="0"/>
          </a:xfrm>
          <a:prstGeom prst="line">
            <a:avLst/>
          </a:prstGeom>
          <a:ln w="12700">
            <a:solidFill>
              <a:srgbClr val="D5D0C6"/>
            </a:solidFill>
          </a:ln>
        </p:spPr>
      </p:cxnSp>
      <p:sp>
        <p:nvSpPr>
          <p:cNvPr id="8" name="Pill 8"/>
          <p:cNvSpPr/>
          <p:nvPr/>
        </p:nvSpPr>
        <p:spPr>
          <a:xfrm>
            <a:off x="4983480" y="1920240"/>
            <a:ext cx="2560320" cy="411480"/>
          </a:xfrm>
          <a:prstGeom prst="roundRect">
            <a:avLst/>
          </a:prstGeom>
          <a:solidFill>
            <a:srgbClr val="BFE9D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Gender</a:t>
            </a:r>
          </a:p>
        </p:txBody>
      </p:sp>
      <p:sp>
        <p:nvSpPr>
          <p:cNvPr id="9" name="Pill 9"/>
          <p:cNvSpPr/>
          <p:nvPr/>
        </p:nvSpPr>
        <p:spPr>
          <a:xfrm>
            <a:off x="7818120" y="1920240"/>
            <a:ext cx="2560320" cy="411480"/>
          </a:xfrm>
          <a:prstGeom prst="roundRect">
            <a:avLst/>
          </a:prstGeom>
          <a:solidFill>
            <a:srgbClr val="BFE9D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Country</a:t>
            </a:r>
          </a:p>
        </p:txBody>
      </p:sp>
      <p:sp>
        <p:nvSpPr>
          <p:cNvPr id="10" name="Pill 10"/>
          <p:cNvSpPr/>
          <p:nvPr/>
        </p:nvSpPr>
        <p:spPr>
          <a:xfrm>
            <a:off x="4983480" y="2560320"/>
            <a:ext cx="2560320" cy="411480"/>
          </a:xfrm>
          <a:prstGeom prst="roundRect">
            <a:avLst/>
          </a:prstGeom>
          <a:solidFill>
            <a:srgbClr val="BFE9D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Cancer Type</a:t>
            </a:r>
          </a:p>
        </p:txBody>
      </p:sp>
      <p:sp>
        <p:nvSpPr>
          <p:cNvPr id="11" name="Pill 11"/>
          <p:cNvSpPr/>
          <p:nvPr/>
        </p:nvSpPr>
        <p:spPr>
          <a:xfrm>
            <a:off x="7818120" y="2560320"/>
            <a:ext cx="2560320" cy="411480"/>
          </a:xfrm>
          <a:prstGeom prst="roundRect">
            <a:avLst/>
          </a:prstGeom>
          <a:solidFill>
            <a:srgbClr val="BFE9D7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Cancer Stage</a:t>
            </a:r>
          </a:p>
        </p:txBody>
      </p:sp>
      <p:sp>
        <p:nvSpPr>
          <p:cNvPr id="12" name="Pill 12"/>
          <p:cNvSpPr/>
          <p:nvPr/>
        </p:nvSpPr>
        <p:spPr>
          <a:xfrm>
            <a:off x="4983480" y="3200400"/>
            <a:ext cx="2560320" cy="411480"/>
          </a:xfrm>
          <a:prstGeom prst="roundRect">
            <a:avLst/>
          </a:prstGeom>
          <a:solidFill>
            <a:srgbClr val="E8E0D2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Age</a:t>
            </a:r>
          </a:p>
        </p:txBody>
      </p:sp>
      <p:sp>
        <p:nvSpPr>
          <p:cNvPr id="13" name="Pill 13"/>
          <p:cNvSpPr/>
          <p:nvPr/>
        </p:nvSpPr>
        <p:spPr>
          <a:xfrm>
            <a:off x="7818120" y="3200400"/>
            <a:ext cx="2560320" cy="411480"/>
          </a:xfrm>
          <a:prstGeom prst="roundRect">
            <a:avLst/>
          </a:prstGeom>
          <a:solidFill>
            <a:srgbClr val="E8E0D2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Year</a:t>
            </a:r>
          </a:p>
        </p:txBody>
      </p:sp>
      <p:sp>
        <p:nvSpPr>
          <p:cNvPr id="14" name="Pill 14"/>
          <p:cNvSpPr/>
          <p:nvPr/>
        </p:nvSpPr>
        <p:spPr>
          <a:xfrm>
            <a:off x="4983480" y="3840480"/>
            <a:ext cx="2560320" cy="411480"/>
          </a:xfrm>
          <a:prstGeom prst="roundRect">
            <a:avLst/>
          </a:prstGeom>
          <a:solidFill>
            <a:srgbClr val="E8E0D2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172026"/>
                </a:solidFill>
              </a:rPr>
              <a:t>Risk sliders</a:t>
            </a:r>
          </a:p>
        </p:txBody>
      </p:sp>
      <p:sp>
        <p:nvSpPr>
          <p:cNvPr id="15" name="Pill 15"/>
          <p:cNvSpPr/>
          <p:nvPr/>
        </p:nvSpPr>
        <p:spPr>
          <a:xfrm>
            <a:off x="7818120" y="3840480"/>
            <a:ext cx="2560320" cy="411480"/>
          </a:xfrm>
          <a:prstGeom prst="roundRect">
            <a:avLst/>
          </a:prstGeom>
          <a:solidFill>
            <a:srgbClr val="E7684B"/>
          </a:solidFill>
          <a:ln>
            <a:noFill/>
          </a:ln>
        </p:spPr>
        <p:txBody>
          <a:bodyPr anchor="ctr" lIns="152400" rIns="152400"/>
          <a:lstStyle/>
          <a:p>
            <a:r>
              <a:rPr lang="en-US" sz="120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983480" y="45720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03C42"/>
                </a:solidFill>
              </a:rPr>
              <a:t>Result bands: low &lt;= 4, moderate &gt; 4, high &gt; 7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85800" y="507492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app.py.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02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1B7F79"/>
                </a:solidFill>
              </a:rPr>
              <a:t>WHAT TO FIX BEFORE TRUSTING IT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8229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72026"/>
                </a:solidFill>
              </a:rPr>
              <a:t>The biggest technical risk is category encoding mismatch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002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637074"/>
                </a:solidFill>
              </a:rPr>
              <a:t>The app hardcodes numeric mappings, while the notebook uses LabelEncoder. Those mappings must match exactly.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274320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172026"/>
                </a:solidFill>
              </a:rPr>
              <a:t>Encoding: save and reuse the exact encoders from training.</a:t>
            </a:r>
          </a:p>
          <a:p>
            <a:r>
              <a:rPr lang="en-US" sz="1400">
                <a:solidFill>
                  <a:srgbClr val="172026"/>
                </a:solidFill>
              </a:rPr>
              <a:t>Coverage: the app exposes fewer countries, cancer types, and genders than the notebook describes.</a:t>
            </a:r>
          </a:p>
          <a:p>
            <a:r>
              <a:rPr lang="en-US" sz="1400">
                <a:solidFill>
                  <a:srgbClr val="172026"/>
                </a:solidFill>
              </a:rPr>
              <a:t>Artifacts: the CSV and model are external, so reruns depend on files outside the repo.</a:t>
            </a:r>
          </a:p>
          <a:p>
            <a:r>
              <a:rPr lang="en-US" sz="1400">
                <a:solidFill>
                  <a:srgbClr val="172026"/>
                </a:solidFill>
              </a:rPr>
              <a:t>Clinical use: this is a demo predictor, not a medical decision tool.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852160" y="3063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03C42"/>
                </a:solidFill>
              </a:rPr>
              <a:t>Recommended next step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852160" y="356616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>
                <a:solidFill>
                  <a:srgbClr val="172026"/>
                </a:solidFill>
              </a:rPr>
              <a:t>Package preprocessing and the model into one scikit-learn Pipeline, then the app can submit raw form values safely.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85800" y="649224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7D8588"/>
                </a:solidFill>
              </a:rPr>
              <a:t>Source: comparison of app.py mappings with notebook LabelEncoder training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1005840" y="21945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1">
                <a:solidFill>
                  <a:srgbClr val="BFE9D7"/>
                </a:solidFill>
              </a:rPr>
              <a:t>Bottom line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05840" y="2606040"/>
            <a:ext cx="7498079" cy="1097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FFFFFF"/>
                </a:solidFill>
              </a:rPr>
              <a:t>A working ML demo with a clear path</a:t>
            </a:r>
          </a:p>
          <a:p>
            <a:r>
              <a:rPr lang="en-US" sz="3200" b="1">
                <a:solidFill>
                  <a:srgbClr val="FFFFFF"/>
                </a:solidFill>
              </a:rPr>
              <a:t>to a safer production-style pipeline.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05840" y="3977639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DCECE5"/>
                </a:solidFill>
              </a:rPr>
              <a:t>Keep the model, preprocessing, and app interface synchronized; that is where this project becomes reliable.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tibl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7F4EC"/>
      </a:lt2>
      <a:accent1>
        <a:srgbClr val="1B7F79"/>
      </a:accent1>
      <a:accent2>
        <a:srgbClr val="E7684B"/>
      </a:accent2>
      <a:accent3>
        <a:srgbClr val="5B4067"/>
      </a:accent3>
      <a:accent4>
        <a:srgbClr val="D8A938"/>
      </a:accent4>
      <a:accent5>
        <a:srgbClr val="BFE9D7"/>
      </a:accent5>
      <a:accent6>
        <a:srgbClr val="637074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Cancer Severity Prediction</dc:title>
  <dc:creator>Codex</dc:creator>
  <cp:lastModifiedBy>Codex</cp:lastModifiedBy>
  <dcterms:created xsi:type="dcterms:W3CDTF">2026-04-30T16:54:38Z</dcterms:created>
  <dcterms:modified xsi:type="dcterms:W3CDTF">2026-04-30T16:54:38Z</dcterms:modified>
</cp:coreProperties>
</file>